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999" cy="4892040"/>
          </a:xfrm>
          <a:prstGeom prst="rect">
            <a:avLst/>
          </a:prstGeom>
          <a:solidFill>
            <a:srgbClr val="19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NEAR-DUPLICATE</a:t>
            </a:r>
            <a:br/>
            <a:r>
              <a:t>DOCUMENT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290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CE1F0"/>
                </a:solidFill>
                <a:latin typeface="Aptos"/>
              </a:defRPr>
            </a:pPr>
            <a:r>
              <a:t>A DSA-Based Framework for Detecting Similar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297680"/>
            <a:ext cx="1889748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2510030377-Sahasra</a:t>
            </a:r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2510030402-Ashwini</a:t>
            </a:r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2510030255-Manisha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2608022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rPr dirty="0"/>
              <a:t>PROJECT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What the current Java implementation does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Problem Statement</a:t>
            </a:r>
          </a:p>
          <a:p>
            <a:pPr>
              <a:spcAft>
                <a:spcPts val="500"/>
              </a:spcAft>
              <a:defRPr sz="1400">
                <a:solidFill>
                  <a:srgbClr val="262D3C"/>
                </a:solidFill>
                <a:latin typeface="Aptos"/>
              </a:defRPr>
            </a:pPr>
            <a:r>
              <a:t>Finding near-duplicate documents manually is slow. The framework automates pairwise comparison and identifies documents with high textual similarity.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64008" cy="1417320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72200" y="196596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Objectives</a:t>
            </a:r>
          </a:p>
          <a:p>
            <a:pPr>
              <a:spcAft>
                <a:spcPts val="500"/>
              </a:spcAft>
              <a:defRPr sz="1400">
                <a:solidFill>
                  <a:srgbClr val="262D3C"/>
                </a:solidFill>
                <a:latin typeface="Aptos"/>
              </a:defRPr>
            </a:pPr>
            <a:r>
              <a:t>• Preprocess document text</a:t>
            </a:r>
          </a:p>
          <a:p>
            <a:pPr>
              <a:spcAft>
                <a:spcPts val="500"/>
              </a:spcAft>
              <a:defRPr sz="1400">
                <a:solidFill>
                  <a:srgbClr val="262D3C"/>
                </a:solidFill>
                <a:latin typeface="Aptos"/>
              </a:defRPr>
            </a:pPr>
            <a:r>
              <a:t>• Generate word-based k-shingles</a:t>
            </a:r>
          </a:p>
          <a:p>
            <a:pPr>
              <a:spcAft>
                <a:spcPts val="500"/>
              </a:spcAft>
              <a:defRPr sz="1400">
                <a:solidFill>
                  <a:srgbClr val="262D3C"/>
                </a:solidFill>
                <a:latin typeface="Aptos"/>
              </a:defRPr>
            </a:pPr>
            <a:r>
              <a:t>• Compare documents using multiple similarity techniques</a:t>
            </a:r>
          </a:p>
          <a:p>
            <a:pPr>
              <a:spcAft>
                <a:spcPts val="500"/>
              </a:spcAft>
              <a:defRPr sz="1400">
                <a:solidFill>
                  <a:srgbClr val="262D3C"/>
                </a:solidFill>
                <a:latin typeface="Aptos"/>
              </a:defRPr>
            </a:pPr>
            <a:r>
              <a:t>• Produce a threshold-based decision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965960"/>
            <a:ext cx="64008" cy="141732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406908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Input</a:t>
            </a:r>
            <a:br/>
            <a:r>
              <a:t>Documents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406908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406908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Shingling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406908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Similarity</a:t>
            </a:r>
            <a:br/>
            <a:r>
              <a:t>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406908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Threshold</a:t>
            </a:r>
            <a:br/>
            <a:r>
              <a:t>Decision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38655" y="5408295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8" name="Chevron 17"/>
          <p:cNvSpPr/>
          <p:nvPr/>
        </p:nvSpPr>
        <p:spPr>
          <a:xfrm>
            <a:off x="2267712" y="4379976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4370832" y="4379976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hevron 19"/>
          <p:cNvSpPr/>
          <p:nvPr/>
        </p:nvSpPr>
        <p:spPr>
          <a:xfrm>
            <a:off x="6473952" y="4379976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evron 20"/>
          <p:cNvSpPr/>
          <p:nvPr/>
        </p:nvSpPr>
        <p:spPr>
          <a:xfrm>
            <a:off x="8577072" y="4379976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hevron 21"/>
          <p:cNvSpPr/>
          <p:nvPr/>
        </p:nvSpPr>
        <p:spPr>
          <a:xfrm>
            <a:off x="1029335" y="5714746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PROGRESS SINCE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Implementation status from the current project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410" y="185166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Project setup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Java source files + README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234440"/>
          </a:xfrm>
          <a:prstGeom prst="rect">
            <a:avLst/>
          </a:prstGeom>
          <a:solidFill>
            <a:srgbClr val="35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Preprocessing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Normalization, tokenization, stop-word removal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64008" cy="1234440"/>
          </a:xfrm>
          <a:prstGeom prst="rect">
            <a:avLst/>
          </a:prstGeom>
          <a:solidFill>
            <a:srgbClr val="35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Shingling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Word-based k-shingle generation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64008" cy="1234440"/>
          </a:xfrm>
          <a:prstGeom prst="rect">
            <a:avLst/>
          </a:prstGeom>
          <a:solidFill>
            <a:srgbClr val="35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Similarity engine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Jaccard, Cosine, SimHash, MinHash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64008" cy="1234440"/>
          </a:xfrm>
          <a:prstGeom prst="rect">
            <a:avLst/>
          </a:prstGeom>
          <a:solidFill>
            <a:srgbClr val="35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34840" y="34747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Pairwise report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Per-pair metrics + decision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474720"/>
            <a:ext cx="64008" cy="1234440"/>
          </a:xfrm>
          <a:prstGeom prst="rect">
            <a:avLst/>
          </a:prstGeom>
          <a:solidFill>
            <a:srgbClr val="35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0" y="34747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Extensions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GUI / files / CSV / database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474720"/>
            <a:ext cx="64008" cy="123444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5440680"/>
            <a:ext cx="10972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Current implementation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Core command-line framework is implemented; extension work can add file input, CSV reports, GUI or database support.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440680"/>
            <a:ext cx="64008" cy="65836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Classes and data flow in the Java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0116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Main.java</a:t>
            </a:r>
            <a:br/>
            <a:r>
              <a:t>Input &amp; Report</a:t>
            </a:r>
          </a:p>
        </p:txBody>
      </p:sp>
      <p:sp>
        <p:nvSpPr>
          <p:cNvPr id="9" name="Chevron 8"/>
          <p:cNvSpPr/>
          <p:nvPr/>
        </p:nvSpPr>
        <p:spPr>
          <a:xfrm>
            <a:off x="2743200" y="2112264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154680" y="1828800"/>
            <a:ext cx="21488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Document.java</a:t>
            </a:r>
            <a:br/>
            <a:r>
              <a:t>Document Model</a:t>
            </a:r>
          </a:p>
        </p:txBody>
      </p:sp>
      <p:sp>
        <p:nvSpPr>
          <p:cNvPr id="11" name="Chevron 10"/>
          <p:cNvSpPr/>
          <p:nvPr/>
        </p:nvSpPr>
        <p:spPr>
          <a:xfrm>
            <a:off x="5440680" y="2112264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852160" y="1828800"/>
            <a:ext cx="21488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TextPreprocessor</a:t>
            </a:r>
            <a:br/>
            <a:r>
              <a:t>Clean + Tokenize</a:t>
            </a:r>
          </a:p>
        </p:txBody>
      </p:sp>
      <p:sp>
        <p:nvSpPr>
          <p:cNvPr id="13" name="Chevron 12"/>
          <p:cNvSpPr/>
          <p:nvPr/>
        </p:nvSpPr>
        <p:spPr>
          <a:xfrm>
            <a:off x="8138160" y="2112264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49640" y="182880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Shingling.java</a:t>
            </a:r>
            <a:br/>
            <a:r>
              <a:t>k-Shingles</a:t>
            </a:r>
          </a:p>
        </p:txBody>
      </p:sp>
      <p:sp>
        <p:nvSpPr>
          <p:cNvPr id="15" name="Chevron 14"/>
          <p:cNvSpPr/>
          <p:nvPr/>
        </p:nvSpPr>
        <p:spPr>
          <a:xfrm>
            <a:off x="5623560" y="2971800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57600" y="356616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SimilarityEngine</a:t>
            </a:r>
            <a:br/>
            <a:r>
              <a:t>Jaccard + Cosine</a:t>
            </a:r>
          </a:p>
        </p:txBody>
      </p:sp>
      <p:sp>
        <p:nvSpPr>
          <p:cNvPr id="17" name="Chevron 16"/>
          <p:cNvSpPr/>
          <p:nvPr/>
        </p:nvSpPr>
        <p:spPr>
          <a:xfrm>
            <a:off x="6263640" y="3941063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37960" y="356616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SimHash + MinHash</a:t>
            </a:r>
            <a:br/>
            <a:r>
              <a:t>Signatures</a:t>
            </a:r>
          </a:p>
        </p:txBody>
      </p:sp>
      <p:sp>
        <p:nvSpPr>
          <p:cNvPr id="19" name="Chevron 18"/>
          <p:cNvSpPr/>
          <p:nvPr/>
        </p:nvSpPr>
        <p:spPr>
          <a:xfrm>
            <a:off x="9144000" y="3941063"/>
            <a:ext cx="32004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588500" y="3609340"/>
            <a:ext cx="19202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Decision</a:t>
            </a:r>
            <a:br/>
            <a:r>
              <a:t>NEAR-DUPLICATE /</a:t>
            </a:r>
            <a:br/>
            <a:r>
              <a:t>DIFFERENT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07330"/>
            <a:ext cx="7955279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Core data structures</a:t>
            </a:r>
          </a:p>
          <a:p>
            <a:pPr>
              <a:spcAft>
                <a:spcPts val="500"/>
              </a:spcAft>
              <a:defRPr sz="1150">
                <a:solidFill>
                  <a:srgbClr val="262D3C"/>
                </a:solidFill>
                <a:latin typeface="Aptos"/>
              </a:defRPr>
            </a:pPr>
            <a:r>
              <a:t>HashSet → shingles  |  HashMap → term frequencies  |  int[] → MinHash signature  |  long → SimHash fingerprint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98440"/>
            <a:ext cx="64008" cy="868680"/>
          </a:xfrm>
          <a:prstGeom prst="rect">
            <a:avLst/>
          </a:prstGeom>
          <a:solidFill>
            <a:srgbClr val="37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INPUT &amp;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Text preparation before similarity calculation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57780"/>
            <a:ext cx="27432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1  INPUT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Main.java accepts: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• Number of documents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• Document name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• One-line document text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• Shingle size k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Recommended k: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3 or 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22220"/>
            <a:ext cx="64008" cy="3246120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11880" y="2531110"/>
            <a:ext cx="27432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2  NORMALIZE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Text is converted to lowercase.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Non-alphanumeric characters are replaced with spaces.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Repeated whitespace is collapsed and trimmed.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2486660"/>
            <a:ext cx="64008" cy="324612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2477770"/>
            <a:ext cx="2331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3  TOKENIZE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Clean text is split into whitespace-separated words.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Output becomes the token list used by shingling and term-frequency calculation.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468880"/>
            <a:ext cx="64008" cy="3246120"/>
          </a:xfrm>
          <a:prstGeom prst="rect">
            <a:avLst/>
          </a:prstGeom>
          <a:solidFill>
            <a:srgbClr val="37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0" y="2486660"/>
            <a:ext cx="2377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4  STOP-WORDS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A fixed set of common words is removed, including: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a, an, the, is, are, of, to, in, on, for, and, or, with, this, that,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2468880"/>
            <a:ext cx="64008" cy="324612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DSA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Techniques implemented in the submitted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Word k-Shingling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Creates unique consecutive word sequences using a HashSet.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64008" cy="1143000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Jaccard Similarity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Intersection size divided by union size of shingle sets.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64008" cy="114300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320040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Cosine Similarity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Compares term-frequency vectors using dot product and vector norms.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64008" cy="1143000"/>
          </a:xfrm>
          <a:prstGeom prst="rect">
            <a:avLst/>
          </a:prstGeom>
          <a:solidFill>
            <a:srgbClr val="37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17920" y="320040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SimHash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Builds a 64-bit fingerprint from shingle hashes; similarity uses Hamming distance.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00400"/>
            <a:ext cx="64008" cy="114300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46177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MinHash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Builds a 64-value signature; equal positions estimate set similarity.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17720"/>
            <a:ext cx="64008" cy="1143000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7920" y="46177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Hashing + Sets + Maps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Direct DSA connection through HashSet, HashMap, arrays and bit operations.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617720"/>
            <a:ext cx="64008" cy="114300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ANALYSIS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How two documents become a final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600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Document A + B</a:t>
            </a:r>
          </a:p>
        </p:txBody>
      </p:sp>
      <p:sp>
        <p:nvSpPr>
          <p:cNvPr id="9" name="Chevron 8"/>
          <p:cNvSpPr/>
          <p:nvPr/>
        </p:nvSpPr>
        <p:spPr>
          <a:xfrm>
            <a:off x="2130552" y="2496312"/>
            <a:ext cx="22860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04872" y="2148840"/>
            <a:ext cx="1600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Clean text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2504" y="2496312"/>
            <a:ext cx="22860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06824" y="2148840"/>
            <a:ext cx="1600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Generate k-shingles</a:t>
            </a:r>
          </a:p>
        </p:txBody>
      </p:sp>
      <p:sp>
        <p:nvSpPr>
          <p:cNvPr id="13" name="Chevron 12"/>
          <p:cNvSpPr/>
          <p:nvPr/>
        </p:nvSpPr>
        <p:spPr>
          <a:xfrm>
            <a:off x="5934456" y="2496312"/>
            <a:ext cx="22860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08776" y="2148840"/>
            <a:ext cx="1600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Compute 4 metrics</a:t>
            </a:r>
          </a:p>
        </p:txBody>
      </p:sp>
      <p:sp>
        <p:nvSpPr>
          <p:cNvPr id="15" name="Chevron 14"/>
          <p:cNvSpPr/>
          <p:nvPr/>
        </p:nvSpPr>
        <p:spPr>
          <a:xfrm>
            <a:off x="7836408" y="2496312"/>
            <a:ext cx="22860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10728" y="2148840"/>
            <a:ext cx="1600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5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Apply thresholds</a:t>
            </a:r>
          </a:p>
        </p:txBody>
      </p:sp>
      <p:sp>
        <p:nvSpPr>
          <p:cNvPr id="17" name="Chevron 16"/>
          <p:cNvSpPr/>
          <p:nvPr/>
        </p:nvSpPr>
        <p:spPr>
          <a:xfrm>
            <a:off x="9738360" y="2496312"/>
            <a:ext cx="228600" cy="347472"/>
          </a:xfrm>
          <a:prstGeom prst="chevron">
            <a:avLst/>
          </a:prstGeom>
          <a:solidFill>
            <a:srgbClr val="CD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12680" y="2148840"/>
            <a:ext cx="16002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341"/>
                </a:solidFill>
                <a:latin typeface="Aptos"/>
              </a:defRPr>
            </a:pPr>
            <a:r>
              <a:t>NEAR-DUPLICATE / DIFFERENT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069080"/>
            <a:ext cx="10332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Decision rule in Main.java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NEAR-DUPLICATE if Jaccard ≥ 0.50 OR Cosine ≥ 0.70 OR SimHash similarity ≥ 0.85 OR MinHash estimate ≥ 0.50.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These are demonstration thresholds and should be tuned using validation data for real datasets.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069080"/>
            <a:ext cx="64008" cy="123444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DOCUMENT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What the program computes for every document pair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7432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DOCUMENT SIGNATURE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Clean text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Shingle set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64-bit SimHash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64-value MinHash signature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These representations are prepared once per document before pairwise comparison.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3383280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11880" y="1828800"/>
            <a:ext cx="3657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PAIRWISE COMPARISON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For every pair A &lt;-&gt; B: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• Jaccard similarity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• Cosine similarity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• SimHash similarity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• MinHash estimate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Then the combined threshold rule is evaluated.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828800"/>
            <a:ext cx="64008" cy="338328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79" y="1828800"/>
            <a:ext cx="3977639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REPORT OUTPUT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The console prints: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Document pair name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Jaccard value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Cosine value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SimHash similarity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MinHash estimate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Final 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828800"/>
            <a:ext cx="64008" cy="3383280"/>
          </a:xfrm>
          <a:prstGeom prst="rect">
            <a:avLst/>
          </a:prstGeom>
          <a:solidFill>
            <a:srgbClr val="37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SIMILARITY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Four complementary signals from the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25603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Jaccard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|A ∩ B| / |A ∪ B|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Set overlap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Demo threshold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≥ 0.50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64008" cy="3154680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29000" y="1874519"/>
            <a:ext cx="25603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Cosine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dot(A,B) / (||A|| ||B||)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Term-frequency similarity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Demo threshold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≥ 0.70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874519"/>
            <a:ext cx="64008" cy="315468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25603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SimHash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1 − HammingDistance / 64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Fingerprint similarity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Demo threshold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≥ 0.85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74519"/>
            <a:ext cx="64008" cy="3154680"/>
          </a:xfrm>
          <a:prstGeom prst="rect">
            <a:avLst/>
          </a:prstGeom>
          <a:solidFill>
            <a:srgbClr val="37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098280" y="1874519"/>
            <a:ext cx="25603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MinHash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equal signature positions / 64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Set similarity estimate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Demo threshold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≥ 0.50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874519"/>
            <a:ext cx="64008" cy="315468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" y="5349240"/>
            <a:ext cx="105156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Interpretation</a:t>
            </a:r>
          </a:p>
          <a:p>
            <a:pPr>
              <a:spcAft>
                <a:spcPts val="500"/>
              </a:spcAft>
              <a:defRPr sz="1200">
                <a:solidFill>
                  <a:srgbClr val="262D3C"/>
                </a:solidFill>
                <a:latin typeface="Aptos"/>
              </a:defRPr>
            </a:pPr>
            <a:r>
              <a:t>The implementation uses an OR rule: any one metric crossing its demonstration threshold marks the pair as NEAR-DUPLICATE.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349240"/>
            <a:ext cx="64008" cy="621792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IMPLEMENTATION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Current command-line output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0789920" cy="3611880"/>
          </a:xfrm>
          <a:prstGeom prst="roundRect">
            <a:avLst/>
          </a:prstGeom>
          <a:solidFill>
            <a:srgbClr val="1C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84831"/>
            <a:ext cx="101498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onsolas" panose="020B0609020204030204"/>
              </a:defRPr>
            </a:pPr>
            <a:r>
              <a:t>=== Near-Duplicate Document Detection Framework ===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Enter number of documents: 3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Enter shingle size k (recommended 3-5): 3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--- DOCUMENT SIGNATURES ---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Document_1   → Clean text | Shingles | SimHash | MinHash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Document_2   → Clean text | Shingles | SimHash | MinHash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Document_3   → Clean text | Shingles | SimHash | MinHash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--- PAIRWISE SIMILARITY REPORT ---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Document_1 &lt;-&gt; Document_2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Jaccard | Cosine | SimHash similarity | MinHash estimate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onsolas" panose="020B0609020204030204"/>
              </a:defRPr>
            </a:pPr>
            <a:r>
              <a:t>Decision : NEAR-DUPLICATE / DIFFERENT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623560"/>
            <a:ext cx="1828800" cy="347472"/>
          </a:xfrm>
          <a:prstGeom prst="round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JAVAC *.JAVA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5623560"/>
            <a:ext cx="1828800" cy="347472"/>
          </a:xfrm>
          <a:prstGeom prst="round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JAVA MAIN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ALGORITHM RESULT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Example values shown by the program for one document pair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074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Jaccard</a:t>
            </a:r>
          </a:p>
          <a:p>
            <a:pPr>
              <a:spcAft>
                <a:spcPts val="500"/>
              </a:spcAft>
              <a:defRPr sz="1600">
                <a:solidFill>
                  <a:srgbClr val="262D3C"/>
                </a:solidFill>
                <a:latin typeface="Aptos"/>
              </a:defRPr>
            </a:pPr>
            <a:r>
              <a:t>0.64   •   Shingle-set overlap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1280160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074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Cosine</a:t>
            </a:r>
          </a:p>
          <a:p>
            <a:pPr>
              <a:spcAft>
                <a:spcPts val="500"/>
              </a:spcAft>
              <a:defRPr sz="1600">
                <a:solidFill>
                  <a:srgbClr val="262D3C"/>
                </a:solidFill>
                <a:latin typeface="Aptos"/>
              </a:defRPr>
            </a:pPr>
            <a:r>
              <a:t>0.78   •   Term-frequency similarity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64008" cy="128016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3429000"/>
            <a:ext cx="5074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SimHash</a:t>
            </a:r>
          </a:p>
          <a:p>
            <a:pPr>
              <a:spcAft>
                <a:spcPts val="500"/>
              </a:spcAft>
              <a:defRPr sz="1600">
                <a:solidFill>
                  <a:srgbClr val="262D3C"/>
                </a:solidFill>
                <a:latin typeface="Aptos"/>
              </a:defRPr>
            </a:pPr>
            <a:r>
              <a:t>0.89   •   64-bit fingerprint similarity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429000"/>
            <a:ext cx="64008" cy="1280160"/>
          </a:xfrm>
          <a:prstGeom prst="rect">
            <a:avLst/>
          </a:prstGeom>
          <a:solidFill>
            <a:srgbClr val="37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72200" y="3429000"/>
            <a:ext cx="5074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MinHash</a:t>
            </a:r>
          </a:p>
          <a:p>
            <a:pPr>
              <a:spcAft>
                <a:spcPts val="500"/>
              </a:spcAft>
              <a:defRPr sz="1600">
                <a:solidFill>
                  <a:srgbClr val="262D3C"/>
                </a:solidFill>
                <a:latin typeface="Aptos"/>
              </a:defRPr>
            </a:pPr>
            <a:r>
              <a:t>0.61   •   64-position estimate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429000"/>
            <a:ext cx="64008" cy="128016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5166360"/>
            <a:ext cx="10241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Illustrative decision</a:t>
            </a:r>
          </a:p>
          <a:p>
            <a:pPr>
              <a:spcAft>
                <a:spcPts val="500"/>
              </a:spcAft>
              <a:defRPr sz="1300">
                <a:solidFill>
                  <a:srgbClr val="262D3C"/>
                </a:solidFill>
                <a:latin typeface="Aptos"/>
              </a:defRPr>
            </a:pPr>
            <a:r>
              <a:t>Because the implementation uses an OR threshold rule, crossing any demonstration threshold produces:  NEAR-DUPLICATE.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166360"/>
            <a:ext cx="64008" cy="868680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341"/>
                </a:solidFill>
                <a:latin typeface="Aptos Display"/>
              </a:defRPr>
            </a:pPr>
            <a:r>
              <a:t>PROGRESS TO COMPLETE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082"/>
                </a:solidFill>
                <a:latin typeface="Aptos"/>
              </a:defRPr>
            </a:pPr>
            <a:r>
              <a:t>What is implemented and what the README identifies as future extensions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IMPLEMENTED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Text normalization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Tokenization + stop-word removal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Word-based k-shingling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Jaccard similarity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Cosine similarity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64-bit SimHash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64-value MinHash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Pairwise comparison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✓ Threshold-based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3566160"/>
          </a:xfrm>
          <a:prstGeom prst="rect">
            <a:avLst/>
          </a:prstGeom>
          <a:solidFill>
            <a:srgbClr val="35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rtlCol="0" anchor="ctr"/>
          <a:lstStyle/>
          <a:p>
            <a:pPr algn="ctr">
              <a:defRPr sz="1500" b="1">
                <a:solidFill>
                  <a:srgbClr val="192341"/>
                </a:solidFill>
                <a:latin typeface="Aptos"/>
              </a:defRPr>
            </a:pPr>
            <a:r>
              <a:t>EXTENSIONS IDENTIFIED IN README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→ File input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→ CSV reports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→ GUI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→ Database integration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→ Threshold tuning with validation data</a:t>
            </a:r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250">
                <a:solidFill>
                  <a:srgbClr val="262D3C"/>
                </a:solidFill>
                <a:latin typeface="Aptos"/>
              </a:defRPr>
            </a:pPr>
            <a:r>
              <a:t>These are extension opportunities, not claims about the current implementation.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64008" cy="356616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74720" y="5669280"/>
            <a:ext cx="1920240" cy="347472"/>
          </a:xfrm>
          <a:prstGeom prst="round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CORE DSA 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669280"/>
            <a:ext cx="1920240" cy="347472"/>
          </a:xfrm>
          <a:prstGeom prst="round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EXTENDABLE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5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54EA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14400"/>
            <a:ext cx="10881360" cy="4983480"/>
          </a:xfrm>
          <a:prstGeom prst="roundRect">
            <a:avLst/>
          </a:prstGeom>
          <a:solidFill>
            <a:srgbClr val="19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" y="1325880"/>
            <a:ext cx="1234440" cy="347472"/>
          </a:xfrm>
          <a:prstGeom prst="round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8CDE1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A Practical DSA Framework for</a:t>
            </a:r>
            <a:br/>
            <a:r>
              <a:t>Near-Duplicate Document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429000"/>
            <a:ext cx="96926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CE1F0"/>
                </a:solidFill>
                <a:latin typeface="Aptos"/>
              </a:defRPr>
            </a:pPr>
            <a:r>
              <a:t>Preprocessing  →  Shingling  →  Jaccard / Cosine  →  SimHash / MinHash  →  Threshold Decision</a:t>
            </a:r>
          </a:p>
          <a:p>
            <a:pPr>
              <a:defRPr sz="1400">
                <a:solidFill>
                  <a:srgbClr val="DCE1F0"/>
                </a:solidFill>
                <a:latin typeface="Aptos"/>
              </a:defRPr>
            </a:pPr>
            <a:r>
              <a:t>The project connects classical DSA structures—sets, maps, arrays, hashing and bit operations—to a real document-similarity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8670" y="4846320"/>
            <a:ext cx="164147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THANK YOU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970</Words>
  <Application>Microsoft Office PowerPoint</Application>
  <PresentationFormat>Widescreen</PresentationFormat>
  <Paragraphs>225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Namratha Mallela</dc:creator>
  <dc:description>generated using python-pptx</dc:description>
  <cp:lastModifiedBy>r sahasra</cp:lastModifiedBy>
  <cp:revision>6</cp:revision>
  <dcterms:created xsi:type="dcterms:W3CDTF">2013-01-27T09:14:00Z</dcterms:created>
  <dcterms:modified xsi:type="dcterms:W3CDTF">2026-10-09T14:30:55Z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EC7228F048374A11B41054EEEF836F6F_12</vt:lpwstr>
  </property>
</Properties>
</file>