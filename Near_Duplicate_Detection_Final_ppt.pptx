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530352"/>
            <a:ext cx="6858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1B84A"/>
                </a:solidFill>
                <a:latin typeface="Aptos"/>
              </a:rPr>
              <a:t>DSA PROJECT  / 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3152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NEAR-DUPLICATE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DOCUMENT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852928"/>
            <a:ext cx="658368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CFD8E7"/>
                </a:solidFill>
                <a:latin typeface="Aptos"/>
              </a:rPr>
              <a:t>A framework for comparing documents using shingles, fingerprints and similarity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42248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34856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27463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720072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12680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05288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7896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890504" y="129844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49640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42248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34856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27463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720072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12680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305288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7896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890504" y="159105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49640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42248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34856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427463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20072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12680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305288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7896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890504" y="188366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549640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42248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34856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427463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720072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012680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305288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597896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90504" y="217627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549640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842248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134856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427463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720072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012680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305288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597896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890504" y="2468880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549640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842248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134856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427463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720072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012680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305288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597896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0890504" y="2761488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549640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842248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134856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427463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720072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0012680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0305288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0597896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A4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0890504" y="305409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86384" y="4160520"/>
            <a:ext cx="5303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CORE METHODS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" y="4462272"/>
            <a:ext cx="6858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Shingling  •  SimHash  •  MinHash  •  Jaccard  •  Cosine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" y="5138928"/>
            <a:ext cx="6263640" cy="13716"/>
          </a:xfrm>
          <a:prstGeom prst="rect">
            <a:avLst/>
          </a:prstGeom>
          <a:solidFill>
            <a:srgbClr val="445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86384" y="5321808"/>
            <a:ext cx="6309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FD8E7"/>
                </a:solidFill>
                <a:latin typeface="Aptos"/>
              </a:rPr>
              <a:t>2510030377 — Sahasra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FD8E7"/>
                </a:solidFill>
                <a:latin typeface="Aptos"/>
              </a:rPr>
              <a:t>2510030402 — Ashwini     |     2510030255 — Manisha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2440" y="5285232"/>
            <a:ext cx="33832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CFD8E7"/>
                </a:solidFill>
                <a:latin typeface="Aptos"/>
              </a:rPr>
              <a:t>Computer Science &amp; Engineering</a:t>
            </a:r>
          </a:p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CFD8E7"/>
                </a:solidFill>
                <a:latin typeface="Aptos"/>
              </a:rPr>
              <a:t>Data Structures and Algorithms</a:t>
            </a:r>
          </a:p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CFD8E7"/>
                </a:solidFill>
                <a:latin typeface="Aptos"/>
              </a:rPr>
              <a:t>Faculty: Mr. Aftab Yaseen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" y="6263640"/>
            <a:ext cx="5943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1B84A"/>
                </a:solidFill>
                <a:latin typeface="Aptos"/>
              </a:rPr>
              <a:t>LEARN  /  BUILD  /  COMPARE  /  DETECT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Project Overview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The system compares multiple documents and presents different similarity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039112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2304288"/>
            <a:ext cx="475488" cy="475488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313432"/>
            <a:ext cx="475488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44368"/>
            <a:ext cx="171907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Document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493008"/>
            <a:ext cx="16642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Upload two or more TXT, PDF or DOCX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2880360"/>
            <a:ext cx="2377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F705E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4368" y="2057400"/>
            <a:ext cx="2039112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127248" y="2304288"/>
            <a:ext cx="475488" cy="475488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27248" y="2313432"/>
            <a:ext cx="475488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944368"/>
            <a:ext cx="171907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3493008"/>
            <a:ext cx="16642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Lowercase, remove noise, tokenize and filter stop words.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880360"/>
            <a:ext cx="2377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F705E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48656" y="2057400"/>
            <a:ext cx="2039112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31536" y="2304288"/>
            <a:ext cx="475488" cy="475488"/>
          </a:xfrm>
          <a:prstGeom prst="ellipse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31536" y="2313432"/>
            <a:ext cx="475488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2944368"/>
            <a:ext cx="171907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Create shingles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3493008"/>
            <a:ext cx="16642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Build overlapping k-word sequences.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880360"/>
            <a:ext cx="2377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F705E"/>
                </a:solidFill>
                <a:latin typeface="Aptos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2057400"/>
            <a:ext cx="2039112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35823" y="2304288"/>
            <a:ext cx="475488" cy="475488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35823" y="2313432"/>
            <a:ext cx="475488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3" y="2944368"/>
            <a:ext cx="171907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Fingerprint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3493008"/>
            <a:ext cx="16642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Generate SimHash fingerprints and MinHash signatures.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880360"/>
            <a:ext cx="23774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F705E"/>
                </a:solidFill>
                <a:latin typeface="Apto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7232" y="2057400"/>
            <a:ext cx="2039112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40111" y="2304288"/>
            <a:ext cx="475488" cy="475488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40111" y="2313432"/>
            <a:ext cx="475488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1" y="2944368"/>
            <a:ext cx="171907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Compare &amp;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1" y="3493008"/>
            <a:ext cx="1664208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Calculate scores, assign a label and save history.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881360" cy="841248"/>
          </a:xfrm>
          <a:prstGeom prst="roundRect">
            <a:avLst>
              <a:gd name="adj" fmla="val 12000"/>
            </a:avLst>
          </a:prstGeom>
          <a:solidFill>
            <a:srgbClr val="E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" y="507492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CORE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029200"/>
            <a:ext cx="8412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82236"/>
                </a:solidFill>
                <a:latin typeface="Aptos"/>
              </a:rPr>
              <a:t>Do not rely on one metric: exact scores (Jaccard, cosine) and estimates (MinHash, SimHash) are shown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02 /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82236"/>
                </a:solidFill>
                <a:latin typeface="Aptos"/>
              </a:rPr>
              <a:t>Implementation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Built features and remaining tasks at a glance.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Upload &amp;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1965960"/>
            <a:ext cx="685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 i="0">
                <a:solidFill>
                  <a:srgbClr val="305CEB"/>
                </a:solidFill>
                <a:latin typeface="Aptos"/>
              </a:rPr>
              <a:t>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0487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40487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1965960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Preprocessing &amp; shingling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965960"/>
            <a:ext cx="685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 i="0">
                <a:solidFill>
                  <a:srgbClr val="FF705E"/>
                </a:solidFill>
                <a:latin typeface="Aptos"/>
              </a:rPr>
              <a:t>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40487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59" y="240487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SimHash &amp; MinHash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200400"/>
            <a:ext cx="685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 i="0">
                <a:solidFill>
                  <a:srgbClr val="2A9D78"/>
                </a:solidFill>
                <a:latin typeface="Aptos"/>
              </a:rPr>
              <a:t>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3931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63931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3200400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Jaccard &amp; cosine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200400"/>
            <a:ext cx="685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 i="0">
                <a:solidFill>
                  <a:srgbClr val="305CEB"/>
                </a:solidFill>
                <a:latin typeface="Aptos"/>
              </a:rP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63931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09359" y="363931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434840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History &amp; CSV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4434840"/>
            <a:ext cx="685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 i="0">
                <a:solidFill>
                  <a:srgbClr val="FF705E"/>
                </a:solidFill>
                <a:latin typeface="Aptos"/>
              </a:rPr>
              <a:t>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7375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487375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59" y="4434840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Learning pages &amp; PDF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434840"/>
            <a:ext cx="685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1" i="0">
                <a:solidFill>
                  <a:srgbClr val="2A9D78"/>
                </a:solidFill>
                <a:latin typeface="Aptos"/>
              </a:rPr>
              <a:t>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4873752"/>
            <a:ext cx="4846320" cy="182880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5806440"/>
            <a:ext cx="10744200" cy="438912"/>
          </a:xfrm>
          <a:prstGeom prst="roundRect">
            <a:avLst>
              <a:gd name="adj" fmla="val 12000"/>
            </a:avLst>
          </a:prstGeom>
          <a:solidFill>
            <a:srgbClr val="FF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879592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82236"/>
                </a:solidFill>
                <a:latin typeface="Aptos"/>
              </a:rPr>
              <a:t>Next focus: algorithm learning pages, PDF report and side-by-side text panels.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03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System Architecture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React frontend • FastAPI backend • local comparison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E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64008" cy="13716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1463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88920"/>
            <a:ext cx="1444752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Selects documents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and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24028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2240280"/>
            <a:ext cx="64008" cy="13716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2395728"/>
            <a:ext cx="1828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REACT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788920"/>
            <a:ext cx="1810512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Vite + Tailwind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Upload &amp;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2240280"/>
            <a:ext cx="214884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23560" y="2240280"/>
            <a:ext cx="64008" cy="13716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24728" y="2395728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2788920"/>
            <a:ext cx="1764792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REST endpoints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651760"/>
            <a:ext cx="365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FF705E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2651760"/>
            <a:ext cx="365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FF705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6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407408"/>
            <a:ext cx="16459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705E"/>
                </a:solidFill>
                <a:latin typeface="Aptos"/>
              </a:rPr>
              <a:t>PREPROCESS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1" y="448056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646F82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425196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54680" y="4407408"/>
            <a:ext cx="16459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305CEB"/>
                </a:solidFill>
                <a:latin typeface="Aptos"/>
              </a:rPr>
              <a:t>SHINGLING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448056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646F82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25196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0" y="4407408"/>
            <a:ext cx="16459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A9D78"/>
                </a:solidFill>
                <a:latin typeface="Aptos"/>
              </a:rPr>
              <a:t>SIMHASH /</a:t>
            </a:r>
          </a:p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2A9D78"/>
                </a:solidFill>
                <a:latin typeface="Aptos"/>
              </a:rPr>
              <a:t>MINHASH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48056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646F82"/>
                </a:solidFill>
                <a:latin typeface="Aptos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425196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35240" y="4407408"/>
            <a:ext cx="16459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305CEB"/>
                </a:solidFill>
                <a:latin typeface="Aptos"/>
              </a:rPr>
              <a:t>SIMILARITY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448056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646F82"/>
                </a:solidFill>
                <a:latin typeface="Aptos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425196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4407408"/>
            <a:ext cx="1645920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705E"/>
                </a:solidFill>
                <a:latin typeface="Aptos"/>
              </a:rPr>
              <a:t>RESULTS + CSV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2240280"/>
            <a:ext cx="2560320" cy="1371600"/>
          </a:xfrm>
          <a:prstGeom prst="roundRect">
            <a:avLst>
              <a:gd name="adj" fmla="val 12000"/>
            </a:avLst>
          </a:prstGeom>
          <a:solidFill>
            <a:srgbClr val="E1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03920" y="2240280"/>
            <a:ext cx="64008" cy="1371600"/>
          </a:xfrm>
          <a:prstGeom prst="rect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05088" y="2395728"/>
            <a:ext cx="21945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HISTORY 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2788920"/>
            <a:ext cx="2176272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SQLite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Names, scores, labels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840480"/>
            <a:ext cx="2286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2A9D78"/>
                </a:solidFill>
                <a:latin typeface="Aptos"/>
              </a:rPr>
              <a:t>Local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1">
                <a:solidFill>
                  <a:srgbClr val="646F82"/>
                </a:solidFill>
                <a:latin typeface="Aptos"/>
              </a:rPr>
              <a:t>Privacy note: files are parsed in memory and never stored; history keeps file names and scores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04 /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Input &amp; Preprocessing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Differences in casing and punctuation should not create false mismatches.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1488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64008" cy="210312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304288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1764792" cy="1444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TXT / PDF / DOCX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Two or more files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Shingle size k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MinHash function count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Detection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05740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00984" y="2194560"/>
            <a:ext cx="384048" cy="384048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00984" y="2203703"/>
            <a:ext cx="384048" cy="36575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203704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Lowercase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715768"/>
            <a:ext cx="20116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Standardize letter 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05740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44184" y="2194560"/>
            <a:ext cx="384048" cy="384048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44184" y="2203703"/>
            <a:ext cx="384048" cy="36575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203704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2715768"/>
            <a:ext cx="20116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Remove punctuation and symbols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205740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87384" y="2194560"/>
            <a:ext cx="384048" cy="384048"/>
          </a:xfrm>
          <a:prstGeom prst="ellipse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87384" y="2203703"/>
            <a:ext cx="384048" cy="36575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203704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Tokenize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5672" y="2715768"/>
            <a:ext cx="20116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Split text into words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65760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72584" y="3794760"/>
            <a:ext cx="384048" cy="384048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72584" y="3803904"/>
            <a:ext cx="384048" cy="36575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3803904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315968"/>
            <a:ext cx="20116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Remove stop words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365760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15783" y="3794760"/>
            <a:ext cx="384048" cy="384048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15783" y="3803904"/>
            <a:ext cx="384048" cy="36575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3803904"/>
            <a:ext cx="1508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Normalize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4072" y="4315968"/>
            <a:ext cx="201168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Collapse extra whitespace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349240"/>
            <a:ext cx="10744200" cy="731520"/>
          </a:xfrm>
          <a:prstGeom prst="roundRect">
            <a:avLst>
              <a:gd name="adj" fmla="val 12000"/>
            </a:avLst>
          </a:prstGeom>
          <a:solidFill>
            <a:srgbClr val="FF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51383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WHY IT MATTERS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477256"/>
            <a:ext cx="8412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82236"/>
                </a:solidFill>
                <a:latin typeface="Aptos"/>
              </a:rPr>
              <a:t>Normalization removes irrelevant differences before shingles are created.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05 /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DSA Algorithms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Compact representations make document comparison practical.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3429000" cy="109728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286000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SHINGLING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Overlapping k-word 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2011680"/>
            <a:ext cx="3429000" cy="109728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7" y="2286000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JACCARD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69748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Exact overlap of shingle 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429000" cy="109728"/>
          </a:xfrm>
          <a:prstGeom prst="rect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2286000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MINHASH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697480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Signature that estimates Jaccard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84448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584448"/>
            <a:ext cx="3429000" cy="109728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858768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SIMHASH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70248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64-bit fingerprint from weighted word votes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584448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59" y="3584448"/>
            <a:ext cx="3429000" cy="109728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1727" y="3858768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TF-IDF COSINE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7" y="4270248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Angle between word vectors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84448"/>
            <a:ext cx="342900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584448"/>
            <a:ext cx="3429000" cy="109728"/>
          </a:xfrm>
          <a:prstGeom prst="rect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0768" y="3858768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HAMMING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270248"/>
            <a:ext cx="2971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Count of differing fingerprint bits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5486400"/>
            <a:ext cx="10789920" cy="530352"/>
          </a:xfrm>
          <a:prstGeom prst="roundRect">
            <a:avLst>
              <a:gd name="adj" fmla="val 12000"/>
            </a:avLst>
          </a:prstGeom>
          <a:solidFill>
            <a:srgbClr val="E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614416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82236"/>
                </a:solidFill>
                <a:latin typeface="Aptos"/>
              </a:rPr>
              <a:t>Important: SimHash compares word-content fingerprints; MinHash estimates shingle-set overlap.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06 / DETECTION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Near-Duplicate Detection Flow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The final category is driven by the configured Jaccard threshold.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153619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19" y="2011680"/>
            <a:ext cx="457200" cy="457200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19" y="202082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96896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82236"/>
                </a:solidFill>
                <a:latin typeface="Aptos"/>
              </a:rPr>
              <a:t>Doc A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58775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646F8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2331720"/>
            <a:ext cx="153619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08960" y="2011680"/>
            <a:ext cx="457200" cy="457200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202082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596896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82236"/>
                </a:solidFill>
                <a:latin typeface="Aptos"/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258775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646F8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8848" y="2331720"/>
            <a:ext cx="153619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29200" y="2011680"/>
            <a:ext cx="457200" cy="457200"/>
          </a:xfrm>
          <a:prstGeom prst="ellipse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202082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596896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82236"/>
                </a:solidFill>
                <a:latin typeface="Aptos"/>
              </a:rPr>
              <a:t>Shingle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58775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646F8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331720"/>
            <a:ext cx="153619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49440" y="2011680"/>
            <a:ext cx="457200" cy="457200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202082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596896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82236"/>
                </a:solidFill>
                <a:latin typeface="Aptos"/>
              </a:rPr>
              <a:t>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258775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646F82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8" y="2331720"/>
            <a:ext cx="153619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69680" y="2011680"/>
            <a:ext cx="457200" cy="457200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0" y="202082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2596896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82236"/>
                </a:solidFill>
                <a:latin typeface="Aptos"/>
              </a:rPr>
              <a:t>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258775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646F82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9568" y="2331720"/>
            <a:ext cx="153619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89920" y="2011680"/>
            <a:ext cx="457200" cy="457200"/>
          </a:xfrm>
          <a:prstGeom prst="ellipse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0" y="202082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51008" y="2596896"/>
            <a:ext cx="13533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182236"/>
                </a:solidFill>
                <a:latin typeface="Aptos"/>
              </a:rPr>
              <a:t>Label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8620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E1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" y="3886200"/>
            <a:ext cx="64008" cy="1097280"/>
          </a:xfrm>
          <a:prstGeom prst="rect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2688" y="4041648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HIGHLY SIMILAR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434840"/>
            <a:ext cx="29992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Jaccard at or above threshold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07408" y="388620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E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407408" y="3886200"/>
            <a:ext cx="64008" cy="109728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08576" y="4041648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MODERATELY SIMILAR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4434840"/>
            <a:ext cx="29992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Between half and full threshold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83296" y="388620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FF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83296" y="3886200"/>
            <a:ext cx="64008" cy="109728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84464" y="4041648"/>
            <a:ext cx="3017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82236"/>
                </a:solidFill>
                <a:latin typeface="Aptos"/>
              </a:rPr>
              <a:t>LOW SIMILARITY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4434840"/>
            <a:ext cx="29992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Below half the threshold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486400"/>
            <a:ext cx="10698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646F82"/>
                </a:solidFill>
                <a:latin typeface="Aptos"/>
              </a:rPr>
              <a:t>A similarity score is evidence for review, not proof of copying.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07 / EXAMPLE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Document Analysis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Reported comparison: doc1_near_dup vs doc1_original.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468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646F82"/>
                </a:solidFill>
                <a:latin typeface="Aptos"/>
              </a:rPr>
              <a:t>JACCARD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1031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305CEB"/>
                </a:solidFill>
                <a:latin typeface="Aptos"/>
              </a:rPr>
              <a:t>12.9%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65760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2688" y="3657600"/>
            <a:ext cx="253608" cy="10972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20439" y="2148840"/>
            <a:ext cx="2468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7" y="2423160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646F82"/>
                </a:solidFill>
                <a:latin typeface="Aptos"/>
              </a:rPr>
              <a:t>MINHASH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34640"/>
            <a:ext cx="21031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705E"/>
                </a:solidFill>
                <a:latin typeface="Aptos"/>
              </a:rPr>
              <a:t>16.4%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21607" y="365760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21607" y="3657600"/>
            <a:ext cx="322417" cy="109728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59" y="2148840"/>
            <a:ext cx="2468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7" y="2423160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646F82"/>
                </a:solidFill>
                <a:latin typeface="Aptos"/>
              </a:rPr>
              <a:t>SIMHASH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21031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2A9D78"/>
                </a:solidFill>
                <a:latin typeface="Aptos"/>
              </a:rPr>
              <a:t>78.1%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0527" y="365760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10527" y="3657600"/>
            <a:ext cx="1535414" cy="109728"/>
          </a:xfrm>
          <a:prstGeom prst="roundRect">
            <a:avLst>
              <a:gd name="adj" fmla="val 12000"/>
            </a:avLst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98280" y="2148840"/>
            <a:ext cx="24688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99448" y="2423160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646F82"/>
                </a:solidFill>
                <a:latin typeface="Aptos"/>
              </a:rPr>
              <a:t>COSINE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834640"/>
            <a:ext cx="210312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305CEB"/>
                </a:solidFill>
                <a:latin typeface="Aptos"/>
              </a:rPr>
              <a:t>52.2%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9448" y="3657600"/>
            <a:ext cx="1965960" cy="109728"/>
          </a:xfrm>
          <a:prstGeom prst="roundRect">
            <a:avLst>
              <a:gd name="adj" fmla="val 12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299448" y="3657600"/>
            <a:ext cx="1026231" cy="109728"/>
          </a:xfrm>
          <a:prstGeom prst="roundRect">
            <a:avLst>
              <a:gd name="adj" fmla="val 12000"/>
            </a:avLst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9808" y="4709160"/>
            <a:ext cx="10698480" cy="822960"/>
          </a:xfrm>
          <a:prstGeom prst="roundRect">
            <a:avLst>
              <a:gd name="adj" fmla="val 12000"/>
            </a:avLst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" y="4892040"/>
            <a:ext cx="30175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1B84A"/>
                </a:solidFill>
                <a:latin typeface="Aptos"/>
              </a:rPr>
              <a:t>SHARED SHINGLES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175504"/>
            <a:ext cx="30175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8 of 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892040"/>
            <a:ext cx="2377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1B84A"/>
                </a:solidFill>
                <a:latin typeface="Aptos"/>
              </a:rPr>
              <a:t>HAMMING DISTANCE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175504"/>
            <a:ext cx="2377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14 / 64 bits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9204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READ THE METRICS TOGETHER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175504"/>
            <a:ext cx="32004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Each captures a different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08 /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74980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Similarity Scores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Each algorithm defines similarity in a different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E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123444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JACCARD  /  12.9%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60320"/>
            <a:ext cx="4782312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Exact overlap of identical shingles.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FF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011680"/>
            <a:ext cx="64008" cy="123444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167128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MINHASH  /  16.4%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560320"/>
            <a:ext cx="4782312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An estimate of Jaccard; the gap is estimation 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E1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64008" cy="1234440"/>
          </a:xfrm>
          <a:prstGeom prst="rect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721608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SIMHASH  /  78.1%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4782312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Fingerprint similarity inferred from differing bits.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51663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566160"/>
            <a:ext cx="64008" cy="123444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3721608"/>
            <a:ext cx="4800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236"/>
                </a:solidFill>
                <a:latin typeface="Aptos"/>
              </a:rPr>
              <a:t>TF-IDF COSINE  /  52.2%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114800"/>
            <a:ext cx="4782312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46F82"/>
                </a:solidFill>
                <a:latin typeface="Aptos"/>
              </a:rPr>
              <a:t>Word-vector similarity, based on the angle between vectors.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349240"/>
            <a:ext cx="10561320" cy="658368"/>
          </a:xfrm>
          <a:prstGeom prst="roundRect">
            <a:avLst>
              <a:gd name="adj" fmla="val 12000"/>
            </a:avLst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532120"/>
            <a:ext cx="10058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Jaccard checks exact word-sequence overlap; cosine and SimHash reflect word content differently.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09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Implementation &amp; User Interface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The interface brings upload, comparison results and history into one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658368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6583680" cy="438912"/>
          </a:xfrm>
          <a:prstGeom prst="roundRect">
            <a:avLst>
              <a:gd name="adj" fmla="val 12000"/>
            </a:avLst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2093976"/>
            <a:ext cx="109728" cy="109728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103120"/>
            <a:ext cx="109728" cy="9143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52144" y="2093976"/>
            <a:ext cx="109728" cy="109728"/>
          </a:xfrm>
          <a:prstGeom prst="ellipse">
            <a:avLst/>
          </a:prstGeom>
          <a:solidFill>
            <a:srgbClr val="F1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2103120"/>
            <a:ext cx="109728" cy="9143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1600" y="2093976"/>
            <a:ext cx="109728" cy="109728"/>
          </a:xfrm>
          <a:prstGeom prst="ellipse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103120"/>
            <a:ext cx="109728" cy="9143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2084831"/>
            <a:ext cx="4389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DOCUMENT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697480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82236"/>
                </a:solidFill>
                <a:latin typeface="Aptos"/>
              </a:rPr>
              <a:t>Selected 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063240"/>
            <a:ext cx="2514600" cy="530352"/>
          </a:xfrm>
          <a:prstGeom prst="roundRect">
            <a:avLst>
              <a:gd name="adj" fmla="val 12000"/>
            </a:avLst>
          </a:prstGeom>
          <a:solidFill>
            <a:srgbClr val="E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218688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doc1_original.pdf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063240"/>
            <a:ext cx="2514600" cy="530352"/>
          </a:xfrm>
          <a:prstGeom prst="roundRect">
            <a:avLst>
              <a:gd name="adj" fmla="val 12000"/>
            </a:avLst>
          </a:prstGeom>
          <a:solidFill>
            <a:srgbClr val="FFE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0" y="3218688"/>
            <a:ext cx="2194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doc1_near_dup.pdf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8620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646F82"/>
                </a:solidFill>
                <a:latin typeface="Aptos"/>
              </a:rPr>
              <a:t>Similarity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4279392"/>
            <a:ext cx="1234440" cy="749808"/>
          </a:xfrm>
          <a:prstGeom prst="roundRect">
            <a:avLst>
              <a:gd name="adj" fmla="val 12000"/>
            </a:avLst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89704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305CEB"/>
                </a:solidFill>
                <a:latin typeface="Aptos"/>
              </a:rPr>
              <a:t>12.9%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4279392"/>
            <a:ext cx="1234440" cy="749808"/>
          </a:xfrm>
          <a:prstGeom prst="roundRect">
            <a:avLst>
              <a:gd name="adj" fmla="val 12000"/>
            </a:avLst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14600" y="4489704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705E"/>
                </a:solidFill>
                <a:latin typeface="Aptos"/>
              </a:rPr>
              <a:t>16.4%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4279392"/>
            <a:ext cx="1234440" cy="749808"/>
          </a:xfrm>
          <a:prstGeom prst="roundRect">
            <a:avLst>
              <a:gd name="adj" fmla="val 12000"/>
            </a:avLst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0" y="4489704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2A9D78"/>
                </a:solidFill>
                <a:latin typeface="Aptos"/>
              </a:rPr>
              <a:t>78.1%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4279392"/>
            <a:ext cx="1234440" cy="749808"/>
          </a:xfrm>
          <a:prstGeom prst="roundRect">
            <a:avLst>
              <a:gd name="adj" fmla="val 12000"/>
            </a:avLst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4489704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305CEB"/>
                </a:solidFill>
                <a:latin typeface="Aptos"/>
              </a:rPr>
              <a:t>52.2%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212080"/>
            <a:ext cx="5669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History: searchable entries • delete • export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02996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05CEB"/>
                </a:solidFill>
                <a:latin typeface="Aptos"/>
              </a:rPr>
              <a:t>TECHNOLOGY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2606040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606040"/>
            <a:ext cx="25603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82236"/>
                </a:solidFill>
                <a:latin typeface="Aptos"/>
              </a:rPr>
              <a:t>React, Vite, Tailwind, Recharts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1729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172968"/>
            <a:ext cx="25603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82236"/>
                </a:solidFill>
                <a:latin typeface="Aptos"/>
              </a:rPr>
              <a:t>Python, FastAPI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3739896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Algorithms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739896"/>
            <a:ext cx="25603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82236"/>
                </a:solidFill>
                <a:latin typeface="Aptos"/>
              </a:rPr>
              <a:t>NumPy, scikit-learn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306824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File parsing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4306824"/>
            <a:ext cx="25603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82236"/>
                </a:solidFill>
                <a:latin typeface="Aptos"/>
              </a:rPr>
              <a:t>PyMuPDF, python-docx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873752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873752"/>
            <a:ext cx="25603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82236"/>
                </a:solidFill>
                <a:latin typeface="Aptos"/>
              </a:rPr>
              <a:t>SQLite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10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Algorithm Result Example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Example result from the application; label uses Jaccard.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66751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5394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305CEB"/>
                </a:solidFill>
                <a:latin typeface="Aptos"/>
              </a:rPr>
              <a:t>COMPARISON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82236"/>
                </a:solidFill>
                <a:latin typeface="Aptos"/>
              </a:rPr>
              <a:t>Shingling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816352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8 of 62 shingles shared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154680"/>
            <a:ext cx="5989320" cy="10972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27355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82236"/>
                </a:solidFill>
                <a:latin typeface="Aptos"/>
              </a:rPr>
              <a:t>SimHash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73552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Hamming 14/64 = 78.1%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3611880"/>
            <a:ext cx="5989320" cy="10972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73075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82236"/>
                </a:solidFill>
                <a:latin typeface="Aptos"/>
              </a:rPr>
              <a:t>MinHash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730752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16.4% estimated Jaccard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" y="4069080"/>
            <a:ext cx="5989320" cy="10972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18795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82236"/>
                </a:solidFill>
                <a:latin typeface="Aptos"/>
              </a:rPr>
              <a:t>TF-IDF cosine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187952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52.2% vector similarity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" y="4526280"/>
            <a:ext cx="5989320" cy="10972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64515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82236"/>
                </a:solidFill>
                <a:latin typeface="Aptos"/>
              </a:rPr>
              <a:t>Exact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645152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2057400"/>
            <a:ext cx="3383280" cy="3474720"/>
          </a:xfrm>
          <a:prstGeom prst="roundRect">
            <a:avLst>
              <a:gd name="adj" fmla="val 12000"/>
            </a:avLst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239572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1B84A"/>
                </a:solidFill>
                <a:latin typeface="Aptos"/>
              </a:rPr>
              <a:t>FINAL LABEL (JACCARD)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2816352"/>
            <a:ext cx="27432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12.9%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611880"/>
            <a:ext cx="2194560" cy="384048"/>
          </a:xfrm>
          <a:prstGeom prst="roundRect">
            <a:avLst>
              <a:gd name="adj" fmla="val 12000"/>
            </a:avLst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2" y="3694176"/>
            <a:ext cx="20116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LOW SIMILARITY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4251960"/>
            <a:ext cx="269748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3DCEB"/>
                </a:solidFill>
                <a:latin typeface="Aptos"/>
              </a:rPr>
              <a:t>Exact duplicate pair: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3DCEB"/>
                </a:solidFill>
                <a:latin typeface="Aptos"/>
              </a:rPr>
              <a:t>Jaccard 100%, cosine 100%.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D3DCEB"/>
                </a:solidFill>
                <a:latin typeface="Aptos"/>
              </a:rPr>
              <a:t>Label: Highly Similar.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80644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646F82"/>
                </a:solidFill>
                <a:latin typeface="Aptos"/>
              </a:rPr>
              <a:t>Lowering the app threshold can classify this near-duplicate pair as similar.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132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11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2800" b="1" dirty="0"/>
              <a:t>Remaining Work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8813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46F82"/>
                </a:solidFill>
                <a:latin typeface="Aptos"/>
              </a:rPr>
              <a:t>Priorities to improve explainability, reporting and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6473952"/>
            <a:ext cx="10972800" cy="10972"/>
          </a:xfrm>
          <a:prstGeom prst="rect">
            <a:avLst/>
          </a:prstGeom>
          <a:solidFill>
            <a:srgbClr val="DE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646F82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2148840"/>
            <a:ext cx="457200" cy="457200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3120"/>
            <a:ext cx="4069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236"/>
                </a:solidFill>
                <a:latin typeface="Aptos"/>
              </a:rPr>
              <a:t>Learning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41448"/>
            <a:ext cx="4114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Interactive shingling, SimHash, MinHash and Hamming-distance lessons.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920240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1" y="2148840"/>
            <a:ext cx="457200" cy="457200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1" y="2157984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9" y="2103120"/>
            <a:ext cx="4069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236"/>
                </a:solidFill>
                <a:latin typeface="Aptos"/>
              </a:rPr>
              <a:t>Text panels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2441448"/>
            <a:ext cx="4114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Show original and preprocessed text with matching passages.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18688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6112" y="3447288"/>
            <a:ext cx="457200" cy="457200"/>
          </a:xfrm>
          <a:prstGeom prst="ellipse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456432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401568"/>
            <a:ext cx="4069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236"/>
                </a:solidFill>
                <a:latin typeface="Aptos"/>
              </a:rPr>
              <a:t>PDF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739896"/>
            <a:ext cx="4114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Add a downloadable PDF alongside CSV export.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218688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1" y="3447288"/>
            <a:ext cx="457200" cy="457200"/>
          </a:xfrm>
          <a:prstGeom prst="ellipse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1" y="3456432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599" y="3401568"/>
            <a:ext cx="4069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236"/>
                </a:solidFill>
                <a:latin typeface="Aptos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3739896"/>
            <a:ext cx="4114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Store users and reports when persistence is needed.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17136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96112" y="4745736"/>
            <a:ext cx="457200" cy="457200"/>
          </a:xfrm>
          <a:prstGeom prst="ellipse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4754879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700016"/>
            <a:ext cx="4069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236"/>
                </a:solidFill>
                <a:latin typeface="Aptos"/>
              </a:rPr>
              <a:t>Threshold tuning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038344"/>
            <a:ext cx="4114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Test low, medium and high similarity cases.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517136"/>
            <a:ext cx="51663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73951" y="4745736"/>
            <a:ext cx="457200" cy="457200"/>
          </a:xfrm>
          <a:prstGeom prst="ellipse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1" y="4754879"/>
            <a:ext cx="45720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599" y="4700016"/>
            <a:ext cx="4069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236"/>
                </a:solidFill>
                <a:latin typeface="Aptos"/>
              </a:rPr>
              <a:t>Large corpora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599" y="5038344"/>
            <a:ext cx="4114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6F82"/>
                </a:solidFill>
                <a:latin typeface="Aptos"/>
              </a:rPr>
              <a:t>Use LSH banding to compare many documents faster.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5989320"/>
            <a:ext cx="10607040" cy="320040"/>
          </a:xfrm>
          <a:prstGeom prst="roundRect">
            <a:avLst>
              <a:gd name="adj" fmla="val 12000"/>
            </a:avLst>
          </a:prstGeom>
          <a:solidFill>
            <a:srgbClr val="E5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6025896"/>
            <a:ext cx="10058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Final review focus: validated accuracy, clear evidence and a polished 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30352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1B84A"/>
                </a:solidFill>
                <a:latin typeface="Aptos"/>
              </a:rPr>
              <a:t>12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786384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500"/>
              </a:spcAft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804672" y="1828800"/>
            <a:ext cx="81381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CFD8E7"/>
                </a:solidFill>
                <a:latin typeface="Aptos"/>
              </a:rPr>
              <a:t>A smarter way to find near-duplicate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788920"/>
            <a:ext cx="5029200" cy="932688"/>
          </a:xfrm>
          <a:prstGeom prst="roundRect">
            <a:avLst>
              <a:gd name="adj" fmla="val 12000"/>
            </a:avLst>
          </a:prstGeom>
          <a:solidFill>
            <a:srgbClr val="23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" y="2788920"/>
            <a:ext cx="73152" cy="932688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95351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EFFICIENT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2935224"/>
            <a:ext cx="2971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Compact fingerprints reduce the need for full-text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788920"/>
            <a:ext cx="5029200" cy="932688"/>
          </a:xfrm>
          <a:prstGeom prst="roundRect">
            <a:avLst>
              <a:gd name="adj" fmla="val 12000"/>
            </a:avLst>
          </a:prstGeom>
          <a:solidFill>
            <a:srgbClr val="23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2788920"/>
            <a:ext cx="73152" cy="932688"/>
          </a:xfrm>
          <a:prstGeom prst="rect">
            <a:avLst/>
          </a:prstGeom>
          <a:solidFill>
            <a:srgbClr val="FF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295351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705E"/>
                </a:solidFill>
                <a:latin typeface="Aptos"/>
              </a:rPr>
              <a:t>MULTI-SIGNAL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2935224"/>
            <a:ext cx="2971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Exact and estimated scores complement each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4023360"/>
            <a:ext cx="5029200" cy="932688"/>
          </a:xfrm>
          <a:prstGeom prst="roundRect">
            <a:avLst>
              <a:gd name="adj" fmla="val 12000"/>
            </a:avLst>
          </a:prstGeom>
          <a:solidFill>
            <a:srgbClr val="23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" y="4023360"/>
            <a:ext cx="73152" cy="932688"/>
          </a:xfrm>
          <a:prstGeom prst="rect">
            <a:avLst/>
          </a:prstGeom>
          <a:solidFill>
            <a:srgbClr val="2A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418795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A9D78"/>
                </a:solidFill>
                <a:latin typeface="Aptos"/>
              </a:rPr>
              <a:t>TRANSPARENT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4169664"/>
            <a:ext cx="2971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Each score is computed from the selected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023360"/>
            <a:ext cx="5029200" cy="932688"/>
          </a:xfrm>
          <a:prstGeom prst="roundRect">
            <a:avLst>
              <a:gd name="adj" fmla="val 12000"/>
            </a:avLst>
          </a:prstGeom>
          <a:solidFill>
            <a:srgbClr val="233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5352" y="4023360"/>
            <a:ext cx="73152" cy="932688"/>
          </a:xfrm>
          <a:prstGeom prst="rect">
            <a:avLst/>
          </a:prstGeom>
          <a:solidFill>
            <a:srgbClr val="305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4187952"/>
            <a:ext cx="1508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05CEB"/>
                </a:solidFill>
                <a:latin typeface="Aptos"/>
              </a:rPr>
              <a:t>CONFIGURABLE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4169664"/>
            <a:ext cx="2971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FFFFFF"/>
                </a:solidFill>
                <a:latin typeface="Aptos"/>
              </a:rPr>
              <a:t>Shingle size, hash count and threshold can be adjusted.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577840"/>
            <a:ext cx="7498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1B84A"/>
                </a:solidFill>
                <a:latin typeface="Aptos"/>
              </a:rPr>
              <a:t>PROJECT OUTCOME: raw documents become measurable, reviewable similarity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0421" y="5596128"/>
            <a:ext cx="3174091" cy="7535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2000" b="1" i="0" dirty="0">
                <a:solidFill>
                  <a:srgbClr val="FFFFFF"/>
                </a:solidFill>
                <a:latin typeface="Aptos"/>
              </a:rPr>
              <a:t>THANK</a:t>
            </a:r>
          </a:p>
          <a:p>
            <a:pPr algn="r">
              <a:spcAft>
                <a:spcPts val="500"/>
              </a:spcAft>
            </a:pPr>
            <a:r>
              <a:rPr sz="2000" b="1" i="0" dirty="0">
                <a:solidFill>
                  <a:srgbClr val="FFFFFF"/>
                </a:solidFill>
                <a:latin typeface="Aptos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980</Words>
  <Application>Microsoft Office PowerPoint</Application>
  <PresentationFormat>Widescreen</PresentationFormat>
  <Paragraphs>271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SAHASRA</dc:creator>
  <cp:keywords/>
  <dc:description>generated using python-pptx</dc:description>
  <cp:lastModifiedBy>r sahasra</cp:lastModifiedBy>
  <cp:revision>2</cp:revision>
  <dcterms:created xsi:type="dcterms:W3CDTF">2013-01-27T09:14:16Z</dcterms:created>
  <dcterms:modified xsi:type="dcterms:W3CDTF">2026-10-09T14:48:10Z</dcterms:modified>
  <cp:category/>
</cp:coreProperties>
</file>